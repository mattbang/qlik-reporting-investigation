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5.xml" ContentType="application/vnd.openxmlformats-officedocument.drawingml.chart+xml"/>
  <Override PartName="/ppt/slides/charts/chart1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7.xml" ContentType="application/vnd.openxmlformats-officedocument.drawingml.chart+xml"/>
  <Override PartName="/ppt/slides/charts/chart18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9.xml" ContentType="application/vnd.openxmlformats-officedocument.drawingml.chart+xml"/>
  <Override PartName="/ppt/slides/charts/chart20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1.xml" ContentType="application/vnd.openxmlformats-officedocument.drawingml.chart+xml"/>
  <Override PartName="/ppt/slides/charts/chart2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3.xml" ContentType="application/vnd.openxmlformats-officedocument.drawingml.chart+xml"/>
  <Override PartName="/ppt/slides/charts/chart24.xml" ContentType="application/vnd.openxmlformats-officedocument.drawingml.chart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ac29cd96f54d44" /><Relationship Type="http://schemas.openxmlformats.org/officeDocument/2006/relationships/extended-properties" Target="/docProps/app.xml" Id="R480e8a5937ea446b" /><Relationship Type="http://schemas.openxmlformats.org/officeDocument/2006/relationships/officeDocument" Target="/ppt/presentation.xml" Id="Rcb83c9fc962d43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4a0e5ed9ed49e5"/>
  </p:sldMasterIdLst>
  <p:notesMasterIdLst>
    <p:notesMasterId xmlns:r="http://schemas.openxmlformats.org/officeDocument/2006/relationships" r:id="Rde84073506554126"/>
  </p:notesMasterIdLst>
  <p:sldIdLst>
    <p:sldId xmlns:r="http://schemas.openxmlformats.org/officeDocument/2006/relationships" id="256" r:id="R63f1e92ef2624175"/>
    <p:sldId xmlns:r="http://schemas.openxmlformats.org/officeDocument/2006/relationships" id="257" r:id="R5e17a7b32a2b40f5"/>
    <p:sldId xmlns:r="http://schemas.openxmlformats.org/officeDocument/2006/relationships" id="258" r:id="Ra0625bd090db42c6"/>
    <p:sldId xmlns:r="http://schemas.openxmlformats.org/officeDocument/2006/relationships" id="259" r:id="Rfbe55a05c0d64e49"/>
    <p:sldId xmlns:r="http://schemas.openxmlformats.org/officeDocument/2006/relationships" id="260" r:id="Ra3358d41533b4d2e"/>
    <p:sldId xmlns:r="http://schemas.openxmlformats.org/officeDocument/2006/relationships" id="261" r:id="R2d551bc356814a8b"/>
    <p:sldId xmlns:r="http://schemas.openxmlformats.org/officeDocument/2006/relationships" id="262" r:id="R90deec21c8a54916"/>
    <p:sldId xmlns:r="http://schemas.openxmlformats.org/officeDocument/2006/relationships" id="263" r:id="Re3d64d89c57e4d35"/>
    <p:sldId xmlns:r="http://schemas.openxmlformats.org/officeDocument/2006/relationships" id="264" r:id="R629ed5e4ae0043ee"/>
    <p:sldId xmlns:r="http://schemas.openxmlformats.org/officeDocument/2006/relationships" id="265" r:id="R5c91023e5c0f416e"/>
    <p:sldId xmlns:r="http://schemas.openxmlformats.org/officeDocument/2006/relationships" id="266" r:id="Rd50776682db142b6"/>
    <p:sldId xmlns:r="http://schemas.openxmlformats.org/officeDocument/2006/relationships" id="267" r:id="R3a9273c9ee5d49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4a1b8acdee440a" /><Relationship Type="http://schemas.openxmlformats.org/officeDocument/2006/relationships/slideMaster" Target="/ppt/slideMasters/slideMaster1.xml" Id="Rff4a0e5ed9ed49e5" /><Relationship Type="http://schemas.openxmlformats.org/officeDocument/2006/relationships/notesMaster" Target="/ppt/notesMasters/notesMaster1.xml" Id="Rde84073506554126" /><Relationship Type="http://schemas.openxmlformats.org/officeDocument/2006/relationships/presProps" Target="/ppt/presProps.xml" Id="R81b11acd5a3a4b8f" /><Relationship Type="http://schemas.openxmlformats.org/officeDocument/2006/relationships/tableStyles" Target="/ppt/tableStyles.xml" Id="R054c000428494f36" /><Relationship Type="http://schemas.openxmlformats.org/officeDocument/2006/relationships/slide" Target="/ppt/slides/slide1.xml" Id="R63f1e92ef2624175" /><Relationship Type="http://schemas.openxmlformats.org/officeDocument/2006/relationships/slide" Target="/ppt/slides/slide2.xml" Id="R5e17a7b32a2b40f5" /><Relationship Type="http://schemas.openxmlformats.org/officeDocument/2006/relationships/slide" Target="/ppt/slides/slide3.xml" Id="Ra0625bd090db42c6" /><Relationship Type="http://schemas.openxmlformats.org/officeDocument/2006/relationships/slide" Target="/ppt/slides/slide4.xml" Id="Rfbe55a05c0d64e49" /><Relationship Type="http://schemas.openxmlformats.org/officeDocument/2006/relationships/slide" Target="/ppt/slides/slide5.xml" Id="Ra3358d41533b4d2e" /><Relationship Type="http://schemas.openxmlformats.org/officeDocument/2006/relationships/slide" Target="/ppt/slides/slide6.xml" Id="R2d551bc356814a8b" /><Relationship Type="http://schemas.openxmlformats.org/officeDocument/2006/relationships/slide" Target="/ppt/slides/slide7.xml" Id="R90deec21c8a54916" /><Relationship Type="http://schemas.openxmlformats.org/officeDocument/2006/relationships/slide" Target="/ppt/slides/slide8.xml" Id="Re3d64d89c57e4d35" /><Relationship Type="http://schemas.openxmlformats.org/officeDocument/2006/relationships/slide" Target="/ppt/slides/slide9.xml" Id="R629ed5e4ae0043ee" /><Relationship Type="http://schemas.openxmlformats.org/officeDocument/2006/relationships/slide" Target="/ppt/slides/slide10.xml" Id="R5c91023e5c0f416e" /><Relationship Type="http://schemas.openxmlformats.org/officeDocument/2006/relationships/slide" Target="/ppt/slides/slide11.xml" Id="Rd50776682db142b6" /><Relationship Type="http://schemas.openxmlformats.org/officeDocument/2006/relationships/slide" Target="/ppt/slides/slide12.xml" Id="R3a9273c9ee5d49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e316511cad43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3fda7691fd466a" /><Relationship Type="http://schemas.openxmlformats.org/officeDocument/2006/relationships/notesMaster" Target="/ppt/notesMasters/notesMaster1.xml" Id="R397c2de7a4bb40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28826cdada495e" /><Relationship Type="http://schemas.openxmlformats.org/officeDocument/2006/relationships/notesMaster" Target="/ppt/notesMasters/notesMaster1.xml" Id="R4a374b974b034b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cf40a299c24bac" /><Relationship Type="http://schemas.openxmlformats.org/officeDocument/2006/relationships/notesMaster" Target="/ppt/notesMasters/notesMaster1.xml" Id="R9e98fac1987e4a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0c672ef1a34561" /><Relationship Type="http://schemas.openxmlformats.org/officeDocument/2006/relationships/notesMaster" Target="/ppt/notesMasters/notesMaster1.xml" Id="Rc95d19e9026a4f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fb9ded015f4093" /><Relationship Type="http://schemas.openxmlformats.org/officeDocument/2006/relationships/notesMaster" Target="/ppt/notesMasters/notesMaster1.xml" Id="Rc1502415389c47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1294f8ac3a4bd6" /><Relationship Type="http://schemas.openxmlformats.org/officeDocument/2006/relationships/notesMaster" Target="/ppt/notesMasters/notesMaster1.xml" Id="Re92eee554cb24a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39630d9b174390" /><Relationship Type="http://schemas.openxmlformats.org/officeDocument/2006/relationships/notesMaster" Target="/ppt/notesMasters/notesMaster1.xml" Id="Rd927d19c29e342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19d19c27494191" /><Relationship Type="http://schemas.openxmlformats.org/officeDocument/2006/relationships/notesMaster" Target="/ppt/notesMasters/notesMaster1.xml" Id="Rb79995d3328247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1f73c825d043fe" /><Relationship Type="http://schemas.openxmlformats.org/officeDocument/2006/relationships/notesMaster" Target="/ppt/notesMasters/notesMaster1.xml" Id="R6e64960a19d748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c4e57ea99c4b01" /><Relationship Type="http://schemas.openxmlformats.org/officeDocument/2006/relationships/notesMaster" Target="/ppt/notesMasters/notesMaster1.xml" Id="Ra0585239cb5844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68e464fd884177" /><Relationship Type="http://schemas.openxmlformats.org/officeDocument/2006/relationships/notesMaster" Target="/ppt/notesMasters/notesMaster1.xml" Id="R79f3ddfd9bd94c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36e4fd41e84f62" /><Relationship Type="http://schemas.openxmlformats.org/officeDocument/2006/relationships/notesMaster" Target="/ppt/notesMasters/notesMaster1.xml" Id="R056d3a4f8fcc45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data/synthetic-market.csv and reports/manifest.json. All figures and scopes are fictional, newly prepared for this portfolio. Not historical employer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data/synthetic-market.csv and reports/manifest.json. All figures and scopes are fictional, newly prepared for this portfolio. Not historical employer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data/synthetic-market.csv and reports/manifest.json. All figures and scopes are fictional, newly prepared for this portfolio. Not historical employer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data/synthetic-market.csv and reports/manifest.json. All figures and scopes are fictional, newly prepared for this portfolio. Not historical employer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data/synthetic-market.csv and reports/manifest.json. All figures and scopes are fictional, newly prepared for this portfolio. Not historical employer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data/synthetic-market.csv and reports/manifest.json. All figures and scopes are fictional, newly prepared for this portfolio. Not historical employer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data/synthetic-market.csv and reports/manifest.json. All figures and scopes are fictional, newly prepared for this portfolio. Not historical employer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data/synthetic-market.csv and reports/manifest.json. All figures and scopes are fictional, newly prepared for this portfolio. Not historical employer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data/synthetic-market.csv and reports/manifest.json. All figures and scopes are fictional, newly prepared for this portfolio. Not historical employer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data/synthetic-market.csv and reports/manifest.json. All figures and scopes are fictional, newly prepared for this portfolio. Not historical employer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data/synthetic-market.csv and reports/manifest.json. All figures and scopes are fictional, newly prepared for this portfolio. Not historical employer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data/synthetic-market.csv and reports/manifest.json. All figures and scopes are fictional, newly prepared for this portfolio. Not historical employer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e5f319bdf644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25f8c07f734a09" /><Relationship Type="http://schemas.openxmlformats.org/officeDocument/2006/relationships/slideLayout" Target="/ppt/slideLayouts/slideLayout1.xml" Id="R60152af4051048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152af4051048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98537b6c84c6a" /><Relationship Type="http://schemas.openxmlformats.org/officeDocument/2006/relationships/chart" Target="/ppt/slides/charts/chart1.xml" Id="R9d842f5f9afe421c" /><Relationship Type="http://schemas.openxmlformats.org/officeDocument/2006/relationships/chart" Target="/ppt/slides/charts/chart2.xml" Id="R5af1be8c5a4d4461" /><Relationship Type="http://schemas.openxmlformats.org/officeDocument/2006/relationships/notesSlide" Target="/ppt/notesSlides/notesSlide1.xml" Id="R87675bfe2d6c4d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82d12b3cc44e5" /><Relationship Type="http://schemas.openxmlformats.org/officeDocument/2006/relationships/chart" Target="/ppt/slides/charts/chart3.xml" Id="R948fcece3bc740e3" /><Relationship Type="http://schemas.openxmlformats.org/officeDocument/2006/relationships/chart" Target="/ppt/slides/charts/chart4.xml" Id="R43876b4d208a439c" /><Relationship Type="http://schemas.openxmlformats.org/officeDocument/2006/relationships/notesSlide" Target="/ppt/notesSlides/notesSlide2.xml" Id="R7e1eaa466e7249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e9e00b3a84ebf" /><Relationship Type="http://schemas.openxmlformats.org/officeDocument/2006/relationships/chart" Target="/ppt/slides/charts/chart5.xml" Id="R8a8a83fde63d47cc" /><Relationship Type="http://schemas.openxmlformats.org/officeDocument/2006/relationships/chart" Target="/ppt/slides/charts/chart6.xml" Id="R7a223c11db6543eb" /><Relationship Type="http://schemas.openxmlformats.org/officeDocument/2006/relationships/notesSlide" Target="/ppt/notesSlides/notesSlide3.xml" Id="R8ab37d32402949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e06842036475e" /><Relationship Type="http://schemas.openxmlformats.org/officeDocument/2006/relationships/chart" Target="/ppt/slides/charts/chart7.xml" Id="R896430e95f5e4120" /><Relationship Type="http://schemas.openxmlformats.org/officeDocument/2006/relationships/chart" Target="/ppt/slides/charts/chart8.xml" Id="R05c980b7ca8e428f" /><Relationship Type="http://schemas.openxmlformats.org/officeDocument/2006/relationships/notesSlide" Target="/ppt/notesSlides/notesSlide4.xml" Id="R1252c2208c6440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a08453b454585" /><Relationship Type="http://schemas.openxmlformats.org/officeDocument/2006/relationships/chart" Target="/ppt/slides/charts/chart9.xml" Id="R5c8497377a294662" /><Relationship Type="http://schemas.openxmlformats.org/officeDocument/2006/relationships/chart" Target="/ppt/slides/charts/chart10.xml" Id="Rd68b21d97efb442f" /><Relationship Type="http://schemas.openxmlformats.org/officeDocument/2006/relationships/notesSlide" Target="/ppt/notesSlides/notesSlide5.xml" Id="R8edfbe83806d48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d0512a8184f4a" /><Relationship Type="http://schemas.openxmlformats.org/officeDocument/2006/relationships/chart" Target="/ppt/slides/charts/chart11.xml" Id="Rb6e6406c7318470a" /><Relationship Type="http://schemas.openxmlformats.org/officeDocument/2006/relationships/chart" Target="/ppt/slides/charts/chart12.xml" Id="R83b7fe1a7dc44b39" /><Relationship Type="http://schemas.openxmlformats.org/officeDocument/2006/relationships/notesSlide" Target="/ppt/notesSlides/notesSlide6.xml" Id="Rff583e55b1504b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c8cc1e7e54151" /><Relationship Type="http://schemas.openxmlformats.org/officeDocument/2006/relationships/chart" Target="/ppt/slides/charts/chart13.xml" Id="Reaa6bacdd5914707" /><Relationship Type="http://schemas.openxmlformats.org/officeDocument/2006/relationships/chart" Target="/ppt/slides/charts/chart14.xml" Id="R756ad7d643ea49f5" /><Relationship Type="http://schemas.openxmlformats.org/officeDocument/2006/relationships/notesSlide" Target="/ppt/notesSlides/notesSlide7.xml" Id="R9eafdfe593394d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fdb3088464b17" /><Relationship Type="http://schemas.openxmlformats.org/officeDocument/2006/relationships/chart" Target="/ppt/slides/charts/chart15.xml" Id="R9b0e76fde0844665" /><Relationship Type="http://schemas.openxmlformats.org/officeDocument/2006/relationships/chart" Target="/ppt/slides/charts/chart16.xml" Id="R2a6bc398da614fcf" /><Relationship Type="http://schemas.openxmlformats.org/officeDocument/2006/relationships/notesSlide" Target="/ppt/notesSlides/notesSlide8.xml" Id="R95bfe69d635c45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8dc2d5f5a419a" /><Relationship Type="http://schemas.openxmlformats.org/officeDocument/2006/relationships/chart" Target="/ppt/slides/charts/chart17.xml" Id="R5d0fcc97516348f8" /><Relationship Type="http://schemas.openxmlformats.org/officeDocument/2006/relationships/chart" Target="/ppt/slides/charts/chart18.xml" Id="R04f0d76c283f4d88" /><Relationship Type="http://schemas.openxmlformats.org/officeDocument/2006/relationships/notesSlide" Target="/ppt/notesSlides/notesSlide9.xml" Id="Rd60c18a1b4664b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0c214d9294882" /><Relationship Type="http://schemas.openxmlformats.org/officeDocument/2006/relationships/chart" Target="/ppt/slides/charts/chart19.xml" Id="Ra7e6674e49a3485d" /><Relationship Type="http://schemas.openxmlformats.org/officeDocument/2006/relationships/chart" Target="/ppt/slides/charts/chart20.xml" Id="R4af829b084764ef8" /><Relationship Type="http://schemas.openxmlformats.org/officeDocument/2006/relationships/notesSlide" Target="/ppt/notesSlides/notesSlide10.xml" Id="R06f711f42ff24d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b535a030643e9" /><Relationship Type="http://schemas.openxmlformats.org/officeDocument/2006/relationships/chart" Target="/ppt/slides/charts/chart21.xml" Id="R08a01c6c0bff454b" /><Relationship Type="http://schemas.openxmlformats.org/officeDocument/2006/relationships/chart" Target="/ppt/slides/charts/chart22.xml" Id="Rbb2479b0e9904afa" /><Relationship Type="http://schemas.openxmlformats.org/officeDocument/2006/relationships/notesSlide" Target="/ppt/notesSlides/notesSlide11.xml" Id="R62d53ef207ed4c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32c070e734d2d" /><Relationship Type="http://schemas.openxmlformats.org/officeDocument/2006/relationships/chart" Target="/ppt/slides/charts/chart23.xml" Id="Re337527c46684ce1" /><Relationship Type="http://schemas.openxmlformats.org/officeDocument/2006/relationships/chart" Target="/ppt/slides/charts/chart24.xml" Id="Ra6f3514c471e4c13" /><Relationship Type="http://schemas.openxmlformats.org/officeDocument/2006/relationships/notesSlide" Target="/ppt/notesSlides/notesSlide12.xml" Id="Rf0cbff8d7e52456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6.xml.rels><Relationships xmlns="http://schemas.openxmlformats.org/package/2006/relationships"><Relationship Id="rIdChartSnapshot1" Type="http://schemas.openxmlformats.org/officeDocument/2006/relationships/package" Target="../../embeddings/chart-data-snapshot-016.xlsx"/></Relationships>
</file>

<file path=ppt/slides/charts/_rels/chart17.xml.rels><Relationships xmlns="http://schemas.openxmlformats.org/package/2006/relationships"><Relationship Id="rIdChartSnapshot1" Type="http://schemas.openxmlformats.org/officeDocument/2006/relationships/package" Target="../../embeddings/chart-data-snapshot-017.xlsx"/></Relationships>
</file>

<file path=ppt/slides/charts/_rels/chart18.xml.rels><Relationships xmlns="http://schemas.openxmlformats.org/package/2006/relationships"><Relationship Id="rIdChartSnapshot1" Type="http://schemas.openxmlformats.org/officeDocument/2006/relationships/package" Target="../../embeddings/chart-data-snapshot-018.xlsx"/></Relationships>
</file>

<file path=ppt/slides/charts/_rels/chart19.xml.rels><Relationships xmlns="http://schemas.openxmlformats.org/package/2006/relationships"><Relationship Id="rIdChartSnapshot1" Type="http://schemas.openxmlformats.org/officeDocument/2006/relationships/package" Target="../../embeddings/chart-data-snapshot-019.xlsx"/></Relationships>
</file>

<file path=ppt/slides/charts/_rels/chart20.xml.rels><Relationships xmlns="http://schemas.openxmlformats.org/package/2006/relationships"><Relationship Id="rIdChartSnapshot1" Type="http://schemas.openxmlformats.org/officeDocument/2006/relationships/package" Target="../../embeddings/chart-data-snapshot-020.xlsx"/></Relationships>
</file>

<file path=ppt/slides/charts/_rels/chart21.xml.rels><Relationships xmlns="http://schemas.openxmlformats.org/package/2006/relationships"><Relationship Id="rIdChartSnapshot1" Type="http://schemas.openxmlformats.org/officeDocument/2006/relationships/package" Target="../../embeddings/chart-data-snapshot-021.xlsx"/></Relationships>
</file>

<file path=ppt/slides/charts/_rels/chart22.xml.rels><Relationships xmlns="http://schemas.openxmlformats.org/package/2006/relationships"><Relationship Id="rIdChartSnapshot1" Type="http://schemas.openxmlformats.org/officeDocument/2006/relationships/package" Target="../../embeddings/chart-data-snapshot-022.xlsx"/></Relationships>
</file>

<file path=ppt/slides/charts/_rels/chart23.xml.rels><Relationships xmlns="http://schemas.openxmlformats.org/package/2006/relationships"><Relationship Id="rIdChartSnapshot1" Type="http://schemas.openxmlformats.org/officeDocument/2006/relationships/package" Target="../../embeddings/chart-data-snapshot-023.xlsx"/></Relationships>
</file>

<file path=ppt/slides/charts/_rels/chart24.xml.rels><Relationships xmlns="http://schemas.openxmlformats.org/package/2006/relationships"><Relationship Id="rIdChartSnapshot1" Type="http://schemas.openxmlformats.org/officeDocument/2006/relationships/package" Target="../../embeddings/chart-data-snapshot-02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Market share</c:v>
          </c:tx>
          <c:spPr>
            <a:solidFill xmlns:a="http://schemas.openxmlformats.org/drawingml/2006/main">
              <a:srgbClr val="315CC5"/>
            </a:solidFill>
            <a:ln xmlns:a="http://schemas.openxmlformats.org/drawingml/2006/main" w="28575">
              <a:solidFill>
                <a:srgbClr val="315CC5"/>
              </a:solidFill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0.18</c:v>
                </c:pt>
                <c:pt idx="1">
                  <c:v>0.19292035</c:v>
                </c:pt>
                <c:pt idx="2">
                  <c:v>0.20634921</c:v>
                </c:pt>
                <c:pt idx="3">
                  <c:v>0.21870504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Company</c:v>
          </c:tx>
          <c:spPr>
            <a:solidFill xmlns:a="http://schemas.openxmlformats.org/drawingml/2006/main">
              <a:srgbClr val="315CC5"/>
            </a:solidFill>
            <a:ln xmlns:a="http://schemas.openxmlformats.org/drawingml/2006/main" w="28575">
              <a:solidFill>
                <a:srgbClr val="315CC5"/>
              </a:solidFill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480</c:v>
                </c:pt>
                <c:pt idx="1">
                  <c:v>492</c:v>
                </c:pt>
                <c:pt idx="2">
                  <c:v>504</c:v>
                </c:pt>
                <c:pt idx="3">
                  <c:v>516</c:v>
                </c:pt>
              </c:numCache>
            </c:numRef>
          </c:val>
          <c:smooth val="0"/>
        </c:ser>
        <c:ser>
          <c:idx val="1"/>
          <c:order val="1"/>
          <c:tx>
            <c:v>Market average</c:v>
          </c:tx>
          <c:spPr>
            <a:solidFill xmlns:a="http://schemas.openxmlformats.org/drawingml/2006/main">
              <a:srgbClr val="A85D24"/>
            </a:solidFill>
            <a:ln xmlns:a="http://schemas.openxmlformats.org/drawingml/2006/main" w="28575">
              <a:solidFill>
                <a:srgbClr val="A85D24"/>
              </a:solidFill>
              <a:prstDash val="dash"/>
            </a:ln>
          </c:spPr>
          <c:marker>
            <c:symbol val="none"/>
          </c:marker>
          <c:cat>
            <c:strRef>
              <c:f>'Chart Data'!$C$2:$C$5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445</c:v>
                </c:pt>
                <c:pt idx="1">
                  <c:v>442</c:v>
                </c:pt>
                <c:pt idx="2">
                  <c:v>439</c:v>
                </c:pt>
                <c:pt idx="3">
                  <c:v>436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Market share</c:v>
          </c:tx>
          <c:spPr>
            <a:solidFill xmlns:a="http://schemas.openxmlformats.org/drawingml/2006/main">
              <a:srgbClr val="315CC5"/>
            </a:solidFill>
            <a:ln xmlns:a="http://schemas.openxmlformats.org/drawingml/2006/main" w="28575">
              <a:solidFill>
                <a:srgbClr val="315CC5"/>
              </a:solidFill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0.20508475</c:v>
                </c:pt>
                <c:pt idx="1">
                  <c:v>0.21832061</c:v>
                </c:pt>
                <c:pt idx="2">
                  <c:v>0.23125</c:v>
                </c:pt>
                <c:pt idx="3">
                  <c:v>0.24394904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Company</c:v>
          </c:tx>
          <c:spPr>
            <a:solidFill xmlns:a="http://schemas.openxmlformats.org/drawingml/2006/main">
              <a:srgbClr val="315CC5"/>
            </a:solidFill>
            <a:ln xmlns:a="http://schemas.openxmlformats.org/drawingml/2006/main" w="28575">
              <a:solidFill>
                <a:srgbClr val="315CC5"/>
              </a:solidFill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565</c:v>
                </c:pt>
                <c:pt idx="1">
                  <c:v>577</c:v>
                </c:pt>
                <c:pt idx="2">
                  <c:v>589</c:v>
                </c:pt>
                <c:pt idx="3">
                  <c:v>601</c:v>
                </c:pt>
              </c:numCache>
            </c:numRef>
          </c:val>
          <c:smooth val="0"/>
        </c:ser>
        <c:ser>
          <c:idx val="1"/>
          <c:order val="1"/>
          <c:tx>
            <c:v>Market average</c:v>
          </c:tx>
          <c:spPr>
            <a:solidFill xmlns:a="http://schemas.openxmlformats.org/drawingml/2006/main">
              <a:srgbClr val="A85D24"/>
            </a:solidFill>
            <a:ln xmlns:a="http://schemas.openxmlformats.org/drawingml/2006/main" w="28575">
              <a:solidFill>
                <a:srgbClr val="A85D24"/>
              </a:solidFill>
              <a:prstDash val="dash"/>
            </a:ln>
          </c:spPr>
          <c:marker>
            <c:symbol val="none"/>
          </c:marker>
          <c:cat>
            <c:strRef>
              <c:f>'Chart Data'!$C$2:$C$5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530</c:v>
                </c:pt>
                <c:pt idx="1">
                  <c:v>527</c:v>
                </c:pt>
                <c:pt idx="2">
                  <c:v>524</c:v>
                </c:pt>
                <c:pt idx="3">
                  <c:v>521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Market share</c:v>
          </c:tx>
          <c:spPr>
            <a:solidFill xmlns:a="http://schemas.openxmlformats.org/drawingml/2006/main">
              <a:srgbClr val="16786C"/>
            </a:solidFill>
            <a:ln xmlns:a="http://schemas.openxmlformats.org/drawingml/2006/main" w="28575">
              <a:solidFill>
                <a:srgbClr val="16786C"/>
              </a:solidFill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0.18</c:v>
                </c:pt>
                <c:pt idx="1">
                  <c:v>0.19324324</c:v>
                </c:pt>
                <c:pt idx="2">
                  <c:v>0.20621118</c:v>
                </c:pt>
                <c:pt idx="3">
                  <c:v>0.21896552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Company</c:v>
          </c:tx>
          <c:spPr>
            <a:solidFill xmlns:a="http://schemas.openxmlformats.org/drawingml/2006/main">
              <a:srgbClr val="16786C"/>
            </a:solidFill>
            <a:ln xmlns:a="http://schemas.openxmlformats.org/drawingml/2006/main" w="28575">
              <a:solidFill>
                <a:srgbClr val="16786C"/>
              </a:solidFill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640</c:v>
                </c:pt>
                <c:pt idx="1">
                  <c:v>652</c:v>
                </c:pt>
                <c:pt idx="2">
                  <c:v>664</c:v>
                </c:pt>
                <c:pt idx="3">
                  <c:v>676</c:v>
                </c:pt>
              </c:numCache>
            </c:numRef>
          </c:val>
          <c:smooth val="0"/>
        </c:ser>
        <c:ser>
          <c:idx val="1"/>
          <c:order val="1"/>
          <c:tx>
            <c:v>Market average</c:v>
          </c:tx>
          <c:spPr>
            <a:solidFill xmlns:a="http://schemas.openxmlformats.org/drawingml/2006/main">
              <a:srgbClr val="A85D24"/>
            </a:solidFill>
            <a:ln xmlns:a="http://schemas.openxmlformats.org/drawingml/2006/main" w="28575">
              <a:solidFill>
                <a:srgbClr val="A85D24"/>
              </a:solidFill>
              <a:prstDash val="dash"/>
            </a:ln>
          </c:spPr>
          <c:marker>
            <c:symbol val="none"/>
          </c:marker>
          <c:cat>
            <c:strRef>
              <c:f>'Chart Data'!$C$2:$C$5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605</c:v>
                </c:pt>
                <c:pt idx="1">
                  <c:v>602</c:v>
                </c:pt>
                <c:pt idx="2">
                  <c:v>599</c:v>
                </c:pt>
                <c:pt idx="3">
                  <c:v>596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Market share</c:v>
          </c:tx>
          <c:spPr>
            <a:solidFill xmlns:a="http://schemas.openxmlformats.org/drawingml/2006/main">
              <a:srgbClr val="16786C"/>
            </a:solidFill>
            <a:ln xmlns:a="http://schemas.openxmlformats.org/drawingml/2006/main" w="28575">
              <a:solidFill>
                <a:srgbClr val="16786C"/>
              </a:solidFill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0.20522876</c:v>
                </c:pt>
                <c:pt idx="1">
                  <c:v>0.21807229</c:v>
                </c:pt>
                <c:pt idx="2">
                  <c:v>0.23072626</c:v>
                </c:pt>
                <c:pt idx="3">
                  <c:v>0.24375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Company</c:v>
          </c:tx>
          <c:spPr>
            <a:solidFill xmlns:a="http://schemas.openxmlformats.org/drawingml/2006/main">
              <a:srgbClr val="16786C"/>
            </a:solidFill>
            <a:ln xmlns:a="http://schemas.openxmlformats.org/drawingml/2006/main" w="28575">
              <a:solidFill>
                <a:srgbClr val="16786C"/>
              </a:solidFill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725</c:v>
                </c:pt>
                <c:pt idx="1">
                  <c:v>737</c:v>
                </c:pt>
                <c:pt idx="2">
                  <c:v>749</c:v>
                </c:pt>
                <c:pt idx="3">
                  <c:v>761</c:v>
                </c:pt>
              </c:numCache>
            </c:numRef>
          </c:val>
          <c:smooth val="0"/>
        </c:ser>
        <c:ser>
          <c:idx val="1"/>
          <c:order val="1"/>
          <c:tx>
            <c:v>Market average</c:v>
          </c:tx>
          <c:spPr>
            <a:solidFill xmlns:a="http://schemas.openxmlformats.org/drawingml/2006/main">
              <a:srgbClr val="A85D24"/>
            </a:solidFill>
            <a:ln xmlns:a="http://schemas.openxmlformats.org/drawingml/2006/main" w="28575">
              <a:solidFill>
                <a:srgbClr val="A85D24"/>
              </a:solidFill>
              <a:prstDash val="dash"/>
            </a:ln>
          </c:spPr>
          <c:marker>
            <c:symbol val="none"/>
          </c:marker>
          <c:cat>
            <c:strRef>
              <c:f>'Chart Data'!$C$2:$C$5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690</c:v>
                </c:pt>
                <c:pt idx="1">
                  <c:v>687</c:v>
                </c:pt>
                <c:pt idx="2">
                  <c:v>684</c:v>
                </c:pt>
                <c:pt idx="3">
                  <c:v>681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Market share</c:v>
          </c:tx>
          <c:spPr>
            <a:solidFill xmlns:a="http://schemas.openxmlformats.org/drawingml/2006/main">
              <a:srgbClr val="315CC5"/>
            </a:solidFill>
            <a:ln xmlns:a="http://schemas.openxmlformats.org/drawingml/2006/main" w="28575">
              <a:solidFill>
                <a:srgbClr val="315CC5"/>
              </a:solidFill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0.20991736</c:v>
                </c:pt>
                <c:pt idx="1">
                  <c:v>0.22313433</c:v>
                </c:pt>
                <c:pt idx="2">
                  <c:v>0.23605442</c:v>
                </c:pt>
                <c:pt idx="3">
                  <c:v>0.24875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Company</c:v>
          </c:tx>
          <c:spPr>
            <a:solidFill xmlns:a="http://schemas.openxmlformats.org/drawingml/2006/main">
              <a:srgbClr val="315CC5"/>
            </a:solidFill>
            <a:ln xmlns:a="http://schemas.openxmlformats.org/drawingml/2006/main" w="28575">
              <a:solidFill>
                <a:srgbClr val="315CC5"/>
              </a:solidFill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460</c:v>
                </c:pt>
                <c:pt idx="1">
                  <c:v>468</c:v>
                </c:pt>
                <c:pt idx="2">
                  <c:v>476</c:v>
                </c:pt>
                <c:pt idx="3">
                  <c:v>484</c:v>
                </c:pt>
              </c:numCache>
            </c:numRef>
          </c:val>
          <c:smooth val="0"/>
        </c:ser>
        <c:ser>
          <c:idx val="1"/>
          <c:order val="1"/>
          <c:tx>
            <c:v>Market average</c:v>
          </c:tx>
          <c:spPr>
            <a:solidFill xmlns:a="http://schemas.openxmlformats.org/drawingml/2006/main">
              <a:srgbClr val="A85D24"/>
            </a:solidFill>
            <a:ln xmlns:a="http://schemas.openxmlformats.org/drawingml/2006/main" w="28575">
              <a:solidFill>
                <a:srgbClr val="A85D24"/>
              </a:solidFill>
              <a:prstDash val="dash"/>
            </a:ln>
          </c:spPr>
          <c:marker>
            <c:symbol val="none"/>
          </c:marker>
          <c:cat>
            <c:strRef>
              <c:f>'Chart Data'!$C$2:$C$5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425</c:v>
                </c:pt>
                <c:pt idx="1">
                  <c:v>420</c:v>
                </c:pt>
                <c:pt idx="2">
                  <c:v>415</c:v>
                </c:pt>
                <c:pt idx="3">
                  <c:v>410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Market share</c:v>
          </c:tx>
          <c:spPr>
            <a:solidFill xmlns:a="http://schemas.openxmlformats.org/drawingml/2006/main">
              <a:srgbClr val="315CC5"/>
            </a:solidFill>
            <a:ln xmlns:a="http://schemas.openxmlformats.org/drawingml/2006/main" w="28575">
              <a:solidFill>
                <a:srgbClr val="315CC5"/>
              </a:solidFill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0.2352518</c:v>
                </c:pt>
                <c:pt idx="1">
                  <c:v>0.24802632</c:v>
                </c:pt>
                <c:pt idx="2">
                  <c:v>0.26121212</c:v>
                </c:pt>
                <c:pt idx="3">
                  <c:v>0.2741573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Company</c:v>
          </c:tx>
          <c:spPr>
            <a:solidFill xmlns:a="http://schemas.openxmlformats.org/drawingml/2006/main">
              <a:srgbClr val="315CC5"/>
            </a:solidFill>
            <a:ln xmlns:a="http://schemas.openxmlformats.org/drawingml/2006/main" w="28575">
              <a:solidFill>
                <a:srgbClr val="315CC5"/>
              </a:solidFill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545</c:v>
                </c:pt>
                <c:pt idx="1">
                  <c:v>553</c:v>
                </c:pt>
                <c:pt idx="2">
                  <c:v>561</c:v>
                </c:pt>
                <c:pt idx="3">
                  <c:v>569</c:v>
                </c:pt>
              </c:numCache>
            </c:numRef>
          </c:val>
          <c:smooth val="0"/>
        </c:ser>
        <c:ser>
          <c:idx val="1"/>
          <c:order val="1"/>
          <c:tx>
            <c:v>Market average</c:v>
          </c:tx>
          <c:spPr>
            <a:solidFill xmlns:a="http://schemas.openxmlformats.org/drawingml/2006/main">
              <a:srgbClr val="A85D24"/>
            </a:solidFill>
            <a:ln xmlns:a="http://schemas.openxmlformats.org/drawingml/2006/main" w="28575">
              <a:solidFill>
                <a:srgbClr val="A85D24"/>
              </a:solidFill>
              <a:prstDash val="dash"/>
            </a:ln>
          </c:spPr>
          <c:marker>
            <c:symbol val="none"/>
          </c:marker>
          <c:cat>
            <c:strRef>
              <c:f>'Chart Data'!$C$2:$C$5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510</c:v>
                </c:pt>
                <c:pt idx="1">
                  <c:v>505</c:v>
                </c:pt>
                <c:pt idx="2">
                  <c:v>500</c:v>
                </c:pt>
                <c:pt idx="3">
                  <c:v>495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Market share</c:v>
          </c:tx>
          <c:spPr>
            <a:solidFill xmlns:a="http://schemas.openxmlformats.org/drawingml/2006/main">
              <a:srgbClr val="16786C"/>
            </a:solidFill>
            <a:ln xmlns:a="http://schemas.openxmlformats.org/drawingml/2006/main" w="28575">
              <a:solidFill>
                <a:srgbClr val="16786C"/>
              </a:solidFill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0.21025641</c:v>
                </c:pt>
                <c:pt idx="1">
                  <c:v>0.22307692</c:v>
                </c:pt>
                <c:pt idx="2">
                  <c:v>0.23626374</c:v>
                </c:pt>
                <c:pt idx="3">
                  <c:v>0.24923077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1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Company</c:v>
          </c:tx>
          <c:spPr>
            <a:solidFill xmlns:a="http://schemas.openxmlformats.org/drawingml/2006/main">
              <a:srgbClr val="16786C"/>
            </a:solidFill>
            <a:ln xmlns:a="http://schemas.openxmlformats.org/drawingml/2006/main" w="28575">
              <a:solidFill>
                <a:srgbClr val="16786C"/>
              </a:solidFill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620</c:v>
                </c:pt>
                <c:pt idx="1">
                  <c:v>628</c:v>
                </c:pt>
                <c:pt idx="2">
                  <c:v>636</c:v>
                </c:pt>
                <c:pt idx="3">
                  <c:v>644</c:v>
                </c:pt>
              </c:numCache>
            </c:numRef>
          </c:val>
          <c:smooth val="0"/>
        </c:ser>
        <c:ser>
          <c:idx val="1"/>
          <c:order val="1"/>
          <c:tx>
            <c:v>Market average</c:v>
          </c:tx>
          <c:spPr>
            <a:solidFill xmlns:a="http://schemas.openxmlformats.org/drawingml/2006/main">
              <a:srgbClr val="A85D24"/>
            </a:solidFill>
            <a:ln xmlns:a="http://schemas.openxmlformats.org/drawingml/2006/main" w="28575">
              <a:solidFill>
                <a:srgbClr val="A85D24"/>
              </a:solidFill>
              <a:prstDash val="dash"/>
            </a:ln>
          </c:spPr>
          <c:marker>
            <c:symbol val="none"/>
          </c:marker>
          <c:cat>
            <c:strRef>
              <c:f>'Chart Data'!$C$2:$C$5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585</c:v>
                </c:pt>
                <c:pt idx="1">
                  <c:v>580</c:v>
                </c:pt>
                <c:pt idx="2">
                  <c:v>575</c:v>
                </c:pt>
                <c:pt idx="3">
                  <c:v>570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1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Market share</c:v>
          </c:tx>
          <c:spPr>
            <a:solidFill xmlns:a="http://schemas.openxmlformats.org/drawingml/2006/main">
              <a:srgbClr val="16786C"/>
            </a:solidFill>
            <a:ln xmlns:a="http://schemas.openxmlformats.org/drawingml/2006/main" w="28575">
              <a:solidFill>
                <a:srgbClr val="16786C"/>
              </a:solidFill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0.23505747</c:v>
                </c:pt>
                <c:pt idx="1">
                  <c:v>0.24812834</c:v>
                </c:pt>
                <c:pt idx="2">
                  <c:v>0.261</c:v>
                </c:pt>
                <c:pt idx="3">
                  <c:v>0.2741784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16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Company</c:v>
          </c:tx>
          <c:spPr>
            <a:solidFill xmlns:a="http://schemas.openxmlformats.org/drawingml/2006/main">
              <a:srgbClr val="16786C"/>
            </a:solidFill>
            <a:ln xmlns:a="http://schemas.openxmlformats.org/drawingml/2006/main" w="28575">
              <a:solidFill>
                <a:srgbClr val="16786C"/>
              </a:solidFill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705</c:v>
                </c:pt>
                <c:pt idx="1">
                  <c:v>713</c:v>
                </c:pt>
                <c:pt idx="2">
                  <c:v>721</c:v>
                </c:pt>
                <c:pt idx="3">
                  <c:v>729</c:v>
                </c:pt>
              </c:numCache>
            </c:numRef>
          </c:val>
          <c:smooth val="0"/>
        </c:ser>
        <c:ser>
          <c:idx val="1"/>
          <c:order val="1"/>
          <c:tx>
            <c:v>Market average</c:v>
          </c:tx>
          <c:spPr>
            <a:solidFill xmlns:a="http://schemas.openxmlformats.org/drawingml/2006/main">
              <a:srgbClr val="A85D24"/>
            </a:solidFill>
            <a:ln xmlns:a="http://schemas.openxmlformats.org/drawingml/2006/main" w="28575">
              <a:solidFill>
                <a:srgbClr val="A85D24"/>
              </a:solidFill>
              <a:prstDash val="dash"/>
            </a:ln>
          </c:spPr>
          <c:marker>
            <c:symbol val="none"/>
          </c:marker>
          <c:cat>
            <c:strRef>
              <c:f>'Chart Data'!$C$2:$C$5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670</c:v>
                </c:pt>
                <c:pt idx="1">
                  <c:v>665</c:v>
                </c:pt>
                <c:pt idx="2">
                  <c:v>660</c:v>
                </c:pt>
                <c:pt idx="3">
                  <c:v>655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17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Market share</c:v>
          </c:tx>
          <c:spPr>
            <a:solidFill xmlns:a="http://schemas.openxmlformats.org/drawingml/2006/main">
              <a:srgbClr val="315CC5"/>
            </a:solidFill>
            <a:ln xmlns:a="http://schemas.openxmlformats.org/drawingml/2006/main" w="28575">
              <a:solidFill>
                <a:srgbClr val="315CC5"/>
              </a:solidFill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0.24014085</c:v>
                </c:pt>
                <c:pt idx="1">
                  <c:v>0.25290323</c:v>
                </c:pt>
                <c:pt idx="2">
                  <c:v>0.26607143</c:v>
                </c:pt>
                <c:pt idx="3">
                  <c:v>0.27900552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18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Company</c:v>
          </c:tx>
          <c:spPr>
            <a:solidFill xmlns:a="http://schemas.openxmlformats.org/drawingml/2006/main">
              <a:srgbClr val="315CC5"/>
            </a:solidFill>
            <a:ln xmlns:a="http://schemas.openxmlformats.org/drawingml/2006/main" w="28575">
              <a:solidFill>
                <a:srgbClr val="315CC5"/>
              </a:solidFill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440</c:v>
                </c:pt>
                <c:pt idx="1">
                  <c:v>444</c:v>
                </c:pt>
                <c:pt idx="2">
                  <c:v>448</c:v>
                </c:pt>
                <c:pt idx="3">
                  <c:v>452</c:v>
                </c:pt>
              </c:numCache>
            </c:numRef>
          </c:val>
          <c:smooth val="0"/>
        </c:ser>
        <c:ser>
          <c:idx val="1"/>
          <c:order val="1"/>
          <c:tx>
            <c:v>Market average</c:v>
          </c:tx>
          <c:spPr>
            <a:solidFill xmlns:a="http://schemas.openxmlformats.org/drawingml/2006/main">
              <a:srgbClr val="A85D24"/>
            </a:solidFill>
            <a:ln xmlns:a="http://schemas.openxmlformats.org/drawingml/2006/main" w="28575">
              <a:solidFill>
                <a:srgbClr val="A85D24"/>
              </a:solidFill>
              <a:prstDash val="dash"/>
            </a:ln>
          </c:spPr>
          <c:marker>
            <c:symbol val="none"/>
          </c:marker>
          <c:cat>
            <c:strRef>
              <c:f>'Chart Data'!$C$2:$C$5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405</c:v>
                </c:pt>
                <c:pt idx="1">
                  <c:v>398</c:v>
                </c:pt>
                <c:pt idx="2">
                  <c:v>391</c:v>
                </c:pt>
                <c:pt idx="3">
                  <c:v>384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19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Market share</c:v>
          </c:tx>
          <c:spPr>
            <a:solidFill xmlns:a="http://schemas.openxmlformats.org/drawingml/2006/main">
              <a:srgbClr val="315CC5"/>
            </a:solidFill>
            <a:ln xmlns:a="http://schemas.openxmlformats.org/drawingml/2006/main" w="28575">
              <a:solidFill>
                <a:srgbClr val="315CC5"/>
              </a:solidFill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0.265</c:v>
                </c:pt>
                <c:pt idx="1">
                  <c:v>0.27803468</c:v>
                </c:pt>
                <c:pt idx="2">
                  <c:v>0.29086022</c:v>
                </c:pt>
                <c:pt idx="3">
                  <c:v>0.3040201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0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Company</c:v>
          </c:tx>
          <c:spPr>
            <a:solidFill xmlns:a="http://schemas.openxmlformats.org/drawingml/2006/main">
              <a:srgbClr val="315CC5"/>
            </a:solidFill>
            <a:ln xmlns:a="http://schemas.openxmlformats.org/drawingml/2006/main" w="28575">
              <a:solidFill>
                <a:srgbClr val="315CC5"/>
              </a:solidFill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525</c:v>
                </c:pt>
                <c:pt idx="1">
                  <c:v>529</c:v>
                </c:pt>
                <c:pt idx="2">
                  <c:v>533</c:v>
                </c:pt>
                <c:pt idx="3">
                  <c:v>537</c:v>
                </c:pt>
              </c:numCache>
            </c:numRef>
          </c:val>
          <c:smooth val="0"/>
        </c:ser>
        <c:ser>
          <c:idx val="1"/>
          <c:order val="1"/>
          <c:tx>
            <c:v>Market average</c:v>
          </c:tx>
          <c:spPr>
            <a:solidFill xmlns:a="http://schemas.openxmlformats.org/drawingml/2006/main">
              <a:srgbClr val="A85D24"/>
            </a:solidFill>
            <a:ln xmlns:a="http://schemas.openxmlformats.org/drawingml/2006/main" w="28575">
              <a:solidFill>
                <a:srgbClr val="A85D24"/>
              </a:solidFill>
              <a:prstDash val="dash"/>
            </a:ln>
          </c:spPr>
          <c:marker>
            <c:symbol val="none"/>
          </c:marker>
          <c:cat>
            <c:strRef>
              <c:f>'Chart Data'!$C$2:$C$5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490</c:v>
                </c:pt>
                <c:pt idx="1">
                  <c:v>483</c:v>
                </c:pt>
                <c:pt idx="2">
                  <c:v>476</c:v>
                </c:pt>
                <c:pt idx="3">
                  <c:v>469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Market share</c:v>
          </c:tx>
          <c:spPr>
            <a:solidFill xmlns:a="http://schemas.openxmlformats.org/drawingml/2006/main">
              <a:srgbClr val="16786C"/>
            </a:solidFill>
            <a:ln xmlns:a="http://schemas.openxmlformats.org/drawingml/2006/main" w="28575">
              <a:solidFill>
                <a:srgbClr val="16786C"/>
              </a:solidFill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0.24011299</c:v>
                </c:pt>
                <c:pt idx="1">
                  <c:v>0.25315789</c:v>
                </c:pt>
                <c:pt idx="2">
                  <c:v>0.26600985</c:v>
                </c:pt>
                <c:pt idx="3">
                  <c:v>0.27916667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Company</c:v>
          </c:tx>
          <c:spPr>
            <a:solidFill xmlns:a="http://schemas.openxmlformats.org/drawingml/2006/main">
              <a:srgbClr val="16786C"/>
            </a:solidFill>
            <a:ln xmlns:a="http://schemas.openxmlformats.org/drawingml/2006/main" w="28575">
              <a:solidFill>
                <a:srgbClr val="16786C"/>
              </a:solidFill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600</c:v>
                </c:pt>
                <c:pt idx="1">
                  <c:v>604</c:v>
                </c:pt>
                <c:pt idx="2">
                  <c:v>608</c:v>
                </c:pt>
                <c:pt idx="3">
                  <c:v>612</c:v>
                </c:pt>
              </c:numCache>
            </c:numRef>
          </c:val>
          <c:smooth val="0"/>
        </c:ser>
        <c:ser>
          <c:idx val="1"/>
          <c:order val="1"/>
          <c:tx>
            <c:v>Market average</c:v>
          </c:tx>
          <c:spPr>
            <a:solidFill xmlns:a="http://schemas.openxmlformats.org/drawingml/2006/main">
              <a:srgbClr val="A85D24"/>
            </a:solidFill>
            <a:ln xmlns:a="http://schemas.openxmlformats.org/drawingml/2006/main" w="28575">
              <a:solidFill>
                <a:srgbClr val="A85D24"/>
              </a:solidFill>
              <a:prstDash val="dash"/>
            </a:ln>
          </c:spPr>
          <c:marker>
            <c:symbol val="none"/>
          </c:marker>
          <c:cat>
            <c:strRef>
              <c:f>'Chart Data'!$C$2:$C$5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565</c:v>
                </c:pt>
                <c:pt idx="1">
                  <c:v>558</c:v>
                </c:pt>
                <c:pt idx="2">
                  <c:v>551</c:v>
                </c:pt>
                <c:pt idx="3">
                  <c:v>544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Market share</c:v>
          </c:tx>
          <c:spPr>
            <a:solidFill xmlns:a="http://schemas.openxmlformats.org/drawingml/2006/main">
              <a:srgbClr val="16786C"/>
            </a:solidFill>
            <a:ln xmlns:a="http://schemas.openxmlformats.org/drawingml/2006/main" w="28575">
              <a:solidFill>
                <a:srgbClr val="16786C"/>
              </a:solidFill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0.26512821</c:v>
                </c:pt>
                <c:pt idx="1">
                  <c:v>0.27788462</c:v>
                </c:pt>
                <c:pt idx="2">
                  <c:v>0.29095023</c:v>
                </c:pt>
                <c:pt idx="3">
                  <c:v>0.30384615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Company</c:v>
          </c:tx>
          <c:spPr>
            <a:solidFill xmlns:a="http://schemas.openxmlformats.org/drawingml/2006/main">
              <a:srgbClr val="16786C"/>
            </a:solidFill>
            <a:ln xmlns:a="http://schemas.openxmlformats.org/drawingml/2006/main" w="28575">
              <a:solidFill>
                <a:srgbClr val="16786C"/>
              </a:solidFill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685</c:v>
                </c:pt>
                <c:pt idx="1">
                  <c:v>689</c:v>
                </c:pt>
                <c:pt idx="2">
                  <c:v>693</c:v>
                </c:pt>
                <c:pt idx="3">
                  <c:v>697</c:v>
                </c:pt>
              </c:numCache>
            </c:numRef>
          </c:val>
          <c:smooth val="0"/>
        </c:ser>
        <c:ser>
          <c:idx val="1"/>
          <c:order val="1"/>
          <c:tx>
            <c:v>Market average</c:v>
          </c:tx>
          <c:spPr>
            <a:solidFill xmlns:a="http://schemas.openxmlformats.org/drawingml/2006/main">
              <a:srgbClr val="A85D24"/>
            </a:solidFill>
            <a:ln xmlns:a="http://schemas.openxmlformats.org/drawingml/2006/main" w="28575">
              <a:solidFill>
                <a:srgbClr val="A85D24"/>
              </a:solidFill>
              <a:prstDash val="dash"/>
            </a:ln>
          </c:spPr>
          <c:marker>
            <c:symbol val="none"/>
          </c:marker>
          <c:cat>
            <c:strRef>
              <c:f>'Chart Data'!$C$2:$C$5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650</c:v>
                </c:pt>
                <c:pt idx="1">
                  <c:v>643</c:v>
                </c:pt>
                <c:pt idx="2">
                  <c:v>636</c:v>
                </c:pt>
                <c:pt idx="3">
                  <c:v>629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8B5EC-BAD3-40F5-851F-2138E6F2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15CC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15CC5"/>
                </a:solidFill>
                <a:latin typeface="Arial"/>
                <a:ea typeface="Arial"/>
                <a:cs typeface="Arial"/>
              </a:rPr>
              <a:t>MANAGEMENT REVIEW / FICTIONAL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32A54-0601-4450-9A04-9EA38DF7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331"/>
                </a:solidFill>
                <a:latin typeface="Arial"/>
                <a:ea typeface="Arial"/>
                <a:cs typeface="Arial"/>
              </a:rPr>
              <a:t>Northland · Rhythm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1FD99-3639-4D2E-BE52-377713B7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Pacing · 2025 quarterly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ACC91-6FD6-46E7-BDEE-F06B9D5E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Unit market share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B4249-05FB-4CCC-8DF0-BF08D741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Average selling price (EUR)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76250" y="2667000"/>
          <a:ext xmlns:a="http://schemas.openxmlformats.org/drawingml/2006/main" cx="52387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842f5f9afe421c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429375" y="2667000"/>
          <a:ext xmlns:a="http://schemas.openxmlformats.org/drawingml/2006/main" cx="52387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f1be8c5a4d4461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C9DA8-DE74-47E2-81B2-F16D6DBB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171"/>
                </a:solidFill>
                <a:latin typeface="Arial"/>
                <a:ea typeface="Arial"/>
                <a:cs typeface="Arial"/>
              </a:rPr>
              <a:t>ASP = revenue / units for company and total market (including company).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0DD26-4CEE-4E81-A6E9-808C305A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171"/>
                </a:solidFill>
                <a:latin typeface="Arial"/>
                <a:ea typeface="Arial"/>
                <a:cs typeface="Arial"/>
              </a:rPr>
              <a:t>Fictional data. New portfolio demonstration; no live Qlik connection.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CD534-4C21-4BD5-8FB0-0DD947AB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103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15C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5CC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142446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3EB955-F0B2-49DF-9A4E-6250CA28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15CC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15CC5"/>
                </a:solidFill>
                <a:latin typeface="Arial"/>
                <a:ea typeface="Arial"/>
                <a:cs typeface="Arial"/>
              </a:rPr>
              <a:t>MANAGEMENT REVIEW / FICTIONAL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FC19A-FABC-46FD-AA34-EEE088C6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331"/>
                </a:solidFill>
                <a:latin typeface="Arial"/>
                <a:ea typeface="Arial"/>
                <a:cs typeface="Arial"/>
              </a:rPr>
              <a:t>Northland · Rhythm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6A52D-861D-4785-8B7A-C4F17889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Monitoring · 2025 quarterly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9D2B4-5F49-4C0C-802D-0DFC53CB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Unit market share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09C96-8E3B-4880-8031-869ADF17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Average selling price (EUR)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76250" y="2667000"/>
          <a:ext xmlns:a="http://schemas.openxmlformats.org/drawingml/2006/main" cx="52387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8fcece3bc740e3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429375" y="2667000"/>
          <a:ext xmlns:a="http://schemas.openxmlformats.org/drawingml/2006/main" cx="52387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876b4d208a439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23184-44CB-4989-8A97-D46B9F76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171"/>
                </a:solidFill>
                <a:latin typeface="Arial"/>
                <a:ea typeface="Arial"/>
                <a:cs typeface="Arial"/>
              </a:rPr>
              <a:t>ASP = revenue / units for company and total market (including company).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33694-7165-4C4F-80D5-FC639647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171"/>
                </a:solidFill>
                <a:latin typeface="Arial"/>
                <a:ea typeface="Arial"/>
                <a:cs typeface="Arial"/>
              </a:rPr>
              <a:t>Fictional data. New portfolio demonstration; no live Qlik connection.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2A49B-E6B7-46D8-B67C-CCE480EC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103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15C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5CC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811940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629DD-47CF-4F79-9F46-1D07C4D2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78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786C"/>
                </a:solidFill>
                <a:latin typeface="Arial"/>
                <a:ea typeface="Arial"/>
                <a:cs typeface="Arial"/>
              </a:rPr>
              <a:t>MANAGEMENT REVIEW / FICTIONAL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CAF11-2377-4BF5-923F-2D8AE7DF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331"/>
                </a:solidFill>
                <a:latin typeface="Arial"/>
                <a:ea typeface="Arial"/>
                <a:cs typeface="Arial"/>
              </a:rPr>
              <a:t>Northland · Vascular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B85BF-4199-460D-B561-74E2FF38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Coronary · 2025 quarterly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127D0-C06D-46F5-8D13-FD9802E2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Unit market share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3CF2E-53D4-41E1-8394-6CA6A0E4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Average selling price (EUR)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76250" y="2667000"/>
          <a:ext xmlns:a="http://schemas.openxmlformats.org/drawingml/2006/main" cx="52387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8a83fde63d47cc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429375" y="2667000"/>
          <a:ext xmlns:a="http://schemas.openxmlformats.org/drawingml/2006/main" cx="52387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223c11db6543eb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E19D4-2790-4BB4-832E-A3524794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171"/>
                </a:solidFill>
                <a:latin typeface="Arial"/>
                <a:ea typeface="Arial"/>
                <a:cs typeface="Arial"/>
              </a:rPr>
              <a:t>ASP = revenue / units for company and total market (including company).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A3FAB-B8F8-47EF-B9DF-6B3392C6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171"/>
                </a:solidFill>
                <a:latin typeface="Arial"/>
                <a:ea typeface="Arial"/>
                <a:cs typeface="Arial"/>
              </a:rPr>
              <a:t>Fictional data. New portfolio demonstration; no live Qlik connection.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C91FB-76E3-4164-A6D1-57CE76A4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103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7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78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030837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635003-2E29-40C1-8F8E-76EDA410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78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786C"/>
                </a:solidFill>
                <a:latin typeface="Arial"/>
                <a:ea typeface="Arial"/>
                <a:cs typeface="Arial"/>
              </a:rPr>
              <a:t>MANAGEMENT REVIEW / FICTIONAL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D0718-7CB1-43A0-B6C3-384CCE98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331"/>
                </a:solidFill>
                <a:latin typeface="Arial"/>
                <a:ea typeface="Arial"/>
                <a:cs typeface="Arial"/>
              </a:rPr>
              <a:t>Northland · Vascular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BE5BF-7821-45A1-8BF4-9CB9BCFB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Peripheral · 2025 quarterly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130CC-5B2C-45B2-9626-CB0AAFBF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Unit market share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26889-86F5-4B98-9ACB-82F1C88B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Average selling price (EUR)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76250" y="2667000"/>
          <a:ext xmlns:a="http://schemas.openxmlformats.org/drawingml/2006/main" cx="52387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6430e95f5e4120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429375" y="2667000"/>
          <a:ext xmlns:a="http://schemas.openxmlformats.org/drawingml/2006/main" cx="52387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c980b7ca8e428f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A90DC-6B64-4B78-95C9-2E4FCD38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171"/>
                </a:solidFill>
                <a:latin typeface="Arial"/>
                <a:ea typeface="Arial"/>
                <a:cs typeface="Arial"/>
              </a:rPr>
              <a:t>ASP = revenue / units for company and total market (including company).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B6705-53C9-4A50-8ECD-CC27A5D7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171"/>
                </a:solidFill>
                <a:latin typeface="Arial"/>
                <a:ea typeface="Arial"/>
                <a:cs typeface="Arial"/>
              </a:rPr>
              <a:t>Fictional data. New portfolio demonstration; no live Qlik connection.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A379A-852A-4F99-870E-E779AAF5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103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7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78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474724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01E30-AC0F-4FC0-9D13-A34A4058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15CC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15CC5"/>
                </a:solidFill>
                <a:latin typeface="Arial"/>
                <a:ea typeface="Arial"/>
                <a:cs typeface="Arial"/>
              </a:rPr>
              <a:t>MANAGEMENT REVIEW / FICTIONAL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59D15-8921-44B3-A859-6243C3D6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331"/>
                </a:solidFill>
                <a:latin typeface="Arial"/>
                <a:ea typeface="Arial"/>
                <a:cs typeface="Arial"/>
              </a:rPr>
              <a:t>Westhaven · Rhythm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8A66C-E67B-4D9F-8AC4-7F1489BB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Pacing · 2025 quarterly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2CB48-9422-4A7D-9238-72EBCE4F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Unit market share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2B4E1-FBA0-4530-A431-DC4D4B93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Average selling price (EUR)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76250" y="2667000"/>
          <a:ext xmlns:a="http://schemas.openxmlformats.org/drawingml/2006/main" cx="52387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8497377a294662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429375" y="2667000"/>
          <a:ext xmlns:a="http://schemas.openxmlformats.org/drawingml/2006/main" cx="52387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8b21d97efb442f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23B3D-FBB6-4050-9E8C-9D1B8C90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171"/>
                </a:solidFill>
                <a:latin typeface="Arial"/>
                <a:ea typeface="Arial"/>
                <a:cs typeface="Arial"/>
              </a:rPr>
              <a:t>ASP = revenue / units for company and total market (including company).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F69E5-12A3-4290-BFAB-35D4C8FE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171"/>
                </a:solidFill>
                <a:latin typeface="Arial"/>
                <a:ea typeface="Arial"/>
                <a:cs typeface="Arial"/>
              </a:rPr>
              <a:t>Fictional data. New portfolio demonstration; no live Qlik connection.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8F439-7DA3-4414-96BE-5D8FA23E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103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15C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5CC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284489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C337A-5C9D-41DC-998D-FD29EE65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15CC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15CC5"/>
                </a:solidFill>
                <a:latin typeface="Arial"/>
                <a:ea typeface="Arial"/>
                <a:cs typeface="Arial"/>
              </a:rPr>
              <a:t>MANAGEMENT REVIEW / FICTIONAL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00D11-91E0-4776-8C67-7C2F7203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331"/>
                </a:solidFill>
                <a:latin typeface="Arial"/>
                <a:ea typeface="Arial"/>
                <a:cs typeface="Arial"/>
              </a:rPr>
              <a:t>Westhaven · Rhythm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FE0BF-BC67-4718-86AE-59E90B77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Monitoring · 2025 quarterly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15DBA-452C-4F37-9D10-FB3D6C2D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Unit market share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D0407-9F01-4E20-93DB-D3DCD238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Average selling price (EUR)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76250" y="2667000"/>
          <a:ext xmlns:a="http://schemas.openxmlformats.org/drawingml/2006/main" cx="52387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e6406c7318470a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429375" y="2667000"/>
          <a:ext xmlns:a="http://schemas.openxmlformats.org/drawingml/2006/main" cx="52387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b7fe1a7dc44b3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47F18-86E2-4BD5-A9A6-9C99AF1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171"/>
                </a:solidFill>
                <a:latin typeface="Arial"/>
                <a:ea typeface="Arial"/>
                <a:cs typeface="Arial"/>
              </a:rPr>
              <a:t>ASP = revenue / units for company and total market (including company).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A380C-1D89-4B9A-B630-8DBE1748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171"/>
                </a:solidFill>
                <a:latin typeface="Arial"/>
                <a:ea typeface="Arial"/>
                <a:cs typeface="Arial"/>
              </a:rPr>
              <a:t>Fictional data. New portfolio demonstration; no live Qlik connection.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FBF75-253A-49A6-96D6-02919075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103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15C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5CC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605119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BA9A0-6FE6-4196-8056-033FB97D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78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786C"/>
                </a:solidFill>
                <a:latin typeface="Arial"/>
                <a:ea typeface="Arial"/>
                <a:cs typeface="Arial"/>
              </a:rPr>
              <a:t>MANAGEMENT REVIEW / FICTIONAL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D9E4D-D3A0-44E9-BF84-731D8AD7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331"/>
                </a:solidFill>
                <a:latin typeface="Arial"/>
                <a:ea typeface="Arial"/>
                <a:cs typeface="Arial"/>
              </a:rPr>
              <a:t>Westhaven · Vascular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CB644-F7BA-464A-8EF5-B07E14F7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Coronary · 2025 quarterly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69D07-64FC-4F13-A604-4262482C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Unit market share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9942A-3F73-4F1B-9D7E-394BE51A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Average selling price (EUR)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76250" y="2667000"/>
          <a:ext xmlns:a="http://schemas.openxmlformats.org/drawingml/2006/main" cx="52387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a6bacdd5914707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429375" y="2667000"/>
          <a:ext xmlns:a="http://schemas.openxmlformats.org/drawingml/2006/main" cx="52387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56ad7d643ea49f5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5432F-DC65-46BE-8BB0-AB2B6EDB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171"/>
                </a:solidFill>
                <a:latin typeface="Arial"/>
                <a:ea typeface="Arial"/>
                <a:cs typeface="Arial"/>
              </a:rPr>
              <a:t>ASP = revenue / units for company and total market (including company).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7E0B85-2BF3-46D3-AAE6-9264B900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171"/>
                </a:solidFill>
                <a:latin typeface="Arial"/>
                <a:ea typeface="Arial"/>
                <a:cs typeface="Arial"/>
              </a:rPr>
              <a:t>Fictional data. New portfolio demonstration; no live Qlik connection.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88BCF-9EE4-4B59-8680-14417345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103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7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786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07123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AEC79-B868-4877-8775-894A0280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78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786C"/>
                </a:solidFill>
                <a:latin typeface="Arial"/>
                <a:ea typeface="Arial"/>
                <a:cs typeface="Arial"/>
              </a:rPr>
              <a:t>MANAGEMENT REVIEW / FICTIONAL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ADBF7-B1A8-4D4C-93C3-B7FE5E22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331"/>
                </a:solidFill>
                <a:latin typeface="Arial"/>
                <a:ea typeface="Arial"/>
                <a:cs typeface="Arial"/>
              </a:rPr>
              <a:t>Westhaven · Vascular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C9354-C381-4904-BB1C-F1C271F4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Peripheral · 2025 quarterly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8A036-7C80-4EA2-AB26-D6797425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Unit market share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F002E-FA86-461E-BAD3-98FD35E8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Average selling price (EUR)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76250" y="2667000"/>
          <a:ext xmlns:a="http://schemas.openxmlformats.org/drawingml/2006/main" cx="52387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0e76fde0844665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429375" y="2667000"/>
          <a:ext xmlns:a="http://schemas.openxmlformats.org/drawingml/2006/main" cx="52387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6bc398da614fcf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089EFD-C31F-483B-AE2E-CF496EA4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171"/>
                </a:solidFill>
                <a:latin typeface="Arial"/>
                <a:ea typeface="Arial"/>
                <a:cs typeface="Arial"/>
              </a:rPr>
              <a:t>ASP = revenue / units for company and total market (including company).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F0799-0812-4FFC-A295-1F37D645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171"/>
                </a:solidFill>
                <a:latin typeface="Arial"/>
                <a:ea typeface="Arial"/>
                <a:cs typeface="Arial"/>
              </a:rPr>
              <a:t>Fictional data. New portfolio demonstration; no live Qlik connection.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E99DE-AE44-48E2-9D9A-5C16FBA0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103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7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786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162193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D0CE3C-7F06-435C-A531-04B5F6BE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15CC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15CC5"/>
                </a:solidFill>
                <a:latin typeface="Arial"/>
                <a:ea typeface="Arial"/>
                <a:cs typeface="Arial"/>
              </a:rPr>
              <a:t>MANAGEMENT REVIEW / FICTIONAL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802BF-FB41-40AC-AD32-4FE8BC93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331"/>
                </a:solidFill>
                <a:latin typeface="Arial"/>
                <a:ea typeface="Arial"/>
                <a:cs typeface="Arial"/>
              </a:rPr>
              <a:t>Southland · Rhythm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FB67D-0496-4D22-8DCD-01D3256A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Pacing · 2025 quarterly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8DC21-CDBB-44D9-A881-FE65129D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Unit market share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8A042-C3ED-47B7-9CCF-D8EC1603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Average selling price (EUR)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76250" y="2667000"/>
          <a:ext xmlns:a="http://schemas.openxmlformats.org/drawingml/2006/main" cx="52387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0fcc97516348f8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429375" y="2667000"/>
          <a:ext xmlns:a="http://schemas.openxmlformats.org/drawingml/2006/main" cx="52387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f0d76c283f4d8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8184B-7215-47ED-AA44-BA1A2879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171"/>
                </a:solidFill>
                <a:latin typeface="Arial"/>
                <a:ea typeface="Arial"/>
                <a:cs typeface="Arial"/>
              </a:rPr>
              <a:t>ASP = revenue / units for company and total market (including company).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3BC0D-1888-46DA-899F-96C7A1C4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171"/>
                </a:solidFill>
                <a:latin typeface="Arial"/>
                <a:ea typeface="Arial"/>
                <a:cs typeface="Arial"/>
              </a:rPr>
              <a:t>Fictional data. New portfolio demonstration; no live Qlik connection.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1E2D4-61D7-435E-AFBF-B57559DB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103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15C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5CC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837663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B4340-5A00-4602-956C-E30135F7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15CC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15CC5"/>
                </a:solidFill>
                <a:latin typeface="Arial"/>
                <a:ea typeface="Arial"/>
                <a:cs typeface="Arial"/>
              </a:rPr>
              <a:t>MANAGEMENT REVIEW / FICTIONAL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755D6-0D5C-47BD-9C82-6987CFA9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331"/>
                </a:solidFill>
                <a:latin typeface="Arial"/>
                <a:ea typeface="Arial"/>
                <a:cs typeface="Arial"/>
              </a:rPr>
              <a:t>Southland · Rhythm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B00CA-46BE-471F-98E0-D723D4E7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Monitoring · 2025 quarterly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B3455-EADF-4EBC-94C3-E30B016F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Unit market share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CC462-33AE-4BB5-9B1F-CACF8C56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Average selling price (EUR)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76250" y="2667000"/>
          <a:ext xmlns:a="http://schemas.openxmlformats.org/drawingml/2006/main" cx="52387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e6674e49a3485d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429375" y="2667000"/>
          <a:ext xmlns:a="http://schemas.openxmlformats.org/drawingml/2006/main" cx="52387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f829b084764ef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76D61-0ADE-4A36-9632-1C3A1E71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171"/>
                </a:solidFill>
                <a:latin typeface="Arial"/>
                <a:ea typeface="Arial"/>
                <a:cs typeface="Arial"/>
              </a:rPr>
              <a:t>ASP = revenue / units for company and total market (including company).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480C6-E340-4D36-BFE5-2F63CED0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171"/>
                </a:solidFill>
                <a:latin typeface="Arial"/>
                <a:ea typeface="Arial"/>
                <a:cs typeface="Arial"/>
              </a:rPr>
              <a:t>Fictional data. New portfolio demonstration; no live Qlik connection.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FF563-C81F-44F7-A716-73EFF856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103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15C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5CC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36149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F704C7-119A-4822-BCA8-C3EACE77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78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786C"/>
                </a:solidFill>
                <a:latin typeface="Arial"/>
                <a:ea typeface="Arial"/>
                <a:cs typeface="Arial"/>
              </a:rPr>
              <a:t>MANAGEMENT REVIEW / FICTIONAL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0560D-F0AD-448E-839A-EDD484BA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331"/>
                </a:solidFill>
                <a:latin typeface="Arial"/>
                <a:ea typeface="Arial"/>
                <a:cs typeface="Arial"/>
              </a:rPr>
              <a:t>Southland · Vascular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AED52-2528-491B-93B9-20922378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Coronary · 2025 quarterly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7E20C-5C65-4666-9DB6-C0F8DC1C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Unit market share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6797E-6885-423C-AD48-8A02AE69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Average selling price (EUR)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76250" y="2667000"/>
          <a:ext xmlns:a="http://schemas.openxmlformats.org/drawingml/2006/main" cx="52387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a01c6c0bff454b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429375" y="2667000"/>
          <a:ext xmlns:a="http://schemas.openxmlformats.org/drawingml/2006/main" cx="52387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2479b0e9904afa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EF548-9FBB-497E-A5F1-903603ED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171"/>
                </a:solidFill>
                <a:latin typeface="Arial"/>
                <a:ea typeface="Arial"/>
                <a:cs typeface="Arial"/>
              </a:rPr>
              <a:t>ASP = revenue / units for company and total market (including company).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AFAD9-A058-461C-8856-39C05A9B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171"/>
                </a:solidFill>
                <a:latin typeface="Arial"/>
                <a:ea typeface="Arial"/>
                <a:cs typeface="Arial"/>
              </a:rPr>
              <a:t>Fictional data. New portfolio demonstration; no live Qlik connection.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2DB40-427C-4332-942A-87A8C7C0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103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7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786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972359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41E85-8136-458A-82EB-02F4D401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78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786C"/>
                </a:solidFill>
                <a:latin typeface="Arial"/>
                <a:ea typeface="Arial"/>
                <a:cs typeface="Arial"/>
              </a:rPr>
              <a:t>MANAGEMENT REVIEW / FICTIONAL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72245-314B-484F-AD4C-16C90D3B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331"/>
                </a:solidFill>
                <a:latin typeface="Arial"/>
                <a:ea typeface="Arial"/>
                <a:cs typeface="Arial"/>
              </a:rPr>
              <a:t>Southland · Vascular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E586C-31D8-4D87-BFD0-49500073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Peripheral · 2025 quarterly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972BC-2F30-4992-B873-85BCF215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Unit market share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B0C0A-8763-4D4C-87E2-F24576F0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1"/>
                </a:solidFill>
                <a:latin typeface="Arial"/>
                <a:ea typeface="Arial"/>
                <a:cs typeface="Arial"/>
              </a:rPr>
              <a:t>Average selling price (EUR)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76250" y="2667000"/>
          <a:ext xmlns:a="http://schemas.openxmlformats.org/drawingml/2006/main" cx="52387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37527c46684ce1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429375" y="2667000"/>
          <a:ext xmlns:a="http://schemas.openxmlformats.org/drawingml/2006/main" cx="52387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f3514c471e4c13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8E86D-EEC3-4307-8D1B-48715414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171"/>
                </a:solidFill>
                <a:latin typeface="Arial"/>
                <a:ea typeface="Arial"/>
                <a:cs typeface="Arial"/>
              </a:rPr>
              <a:t>ASP = revenue / units for company and total market (including company).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21DD4-9F18-40AB-9162-0C91A98E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1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171"/>
                </a:solidFill>
                <a:latin typeface="Arial"/>
                <a:ea typeface="Arial"/>
                <a:cs typeface="Arial"/>
              </a:rPr>
              <a:t>Fictional data. New portfolio demonstration; no live Qlik connection.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3E054-C51D-49C4-B05A-4E3D95F8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103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78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786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312317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2026-09-09T14:50:44.4400000Z</dcterms:created>
  <dcterms:modified xsi:type="dcterms:W3CDTF">2026-09-09T14:50:44.4400000Z</dcterms:modified>
</coreProperties>
</file>